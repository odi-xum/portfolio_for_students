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5" d="100"/>
          <a:sy n="75" d="100"/>
        </p:scale>
        <p:origin x="576" y="-1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329686-F0B5-D060-D9A3-A200D7ED62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DB55B8-5DBA-09D0-C53E-CBA320092E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E020D1-746F-A86D-44C2-97FC33583C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1B0538-DBDB-3DEC-6115-6ADE1DB907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913D09-A596-8603-70E1-835E9F7005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7DCFEA-6A47-1302-45FD-8F7DEF522D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570080-C603-FC6F-A52C-526B751FBC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529FE5-3552-54C3-50AD-CA226F7F3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F3E78D-2AC4-33A4-4063-430B1C1E6F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06588-ACE5-0776-E622-BB37BEB63A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88AC33-3FB7-09F6-9509-B9FCE2D1B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479494-6C8C-7996-8D54-529D5A52A6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7AE5CC-14F8-B324-3A7E-51F20FC89F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D5490D-F43D-BA28-BC9D-61A244A0A4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A3D37C-ACA3-1E7C-393B-D0A6444BFA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674F7F-41D5-CFEF-B10A-1E02B5E217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1DD025-63FD-AEB2-0A6D-F8D5A7696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B5F8ED-42BA-7B43-E259-648F8F6EDF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AEE42C-D055-104C-FDCB-CFD2A77E9F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527B38-6222-19C3-9A1A-9F389C45ED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3359C9-BDB5-E629-0D98-8BD07D43EC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945DB-3EDC-24BE-6EA8-8B45E2E306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643934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36872011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126322468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8AF954-DB44-4D18-9FF3-80B4389C2473}" type="datetimeFigureOut">
              <a:rPr lang="ru-RU"/>
              <a:t>18.06.2024</a:t>
            </a:fld>
            <a:endParaRPr lang="ru-RU"/>
          </a:p>
        </p:txBody>
      </p:sp>
      <p:sp>
        <p:nvSpPr>
          <p:cNvPr id="88248124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4863778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FBEBC28-6AC5-4FFB-9B6B-3DDAF1129FC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56087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99856476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035109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8AF954-DB44-4D18-9FF3-80B4389C2473}" type="datetimeFigureOut">
              <a:rPr lang="ru-RU"/>
              <a:t>18.06.2024</a:t>
            </a:fld>
            <a:endParaRPr lang="ru-RU"/>
          </a:p>
        </p:txBody>
      </p:sp>
      <p:sp>
        <p:nvSpPr>
          <p:cNvPr id="1215602342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957826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FBEBC28-6AC5-4FFB-9B6B-3DDAF1129FC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12869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22082987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7445590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8AF954-DB44-4D18-9FF3-80B4389C2473}" type="datetimeFigureOut">
              <a:rPr lang="ru-RU"/>
              <a:t>18.06.2024</a:t>
            </a:fld>
            <a:endParaRPr lang="ru-RU"/>
          </a:p>
        </p:txBody>
      </p:sp>
      <p:sp>
        <p:nvSpPr>
          <p:cNvPr id="209660725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5082201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FBEBC28-6AC5-4FFB-9B6B-3DDAF1129FC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89391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04503777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00797683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46407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8AF954-DB44-4D18-9FF3-80B4389C2473}" type="datetimeFigureOut">
              <a:rPr lang="ru-RU"/>
              <a:t>18.06.2024</a:t>
            </a:fld>
            <a:endParaRPr lang="ru-RU"/>
          </a:p>
        </p:txBody>
      </p:sp>
      <p:sp>
        <p:nvSpPr>
          <p:cNvPr id="181669657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2522590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FBEBC28-6AC5-4FFB-9B6B-3DDAF1129FC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46754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60535504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4553617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81498594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9524367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7817881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8AF954-DB44-4D18-9FF3-80B4389C2473}" type="datetimeFigureOut">
              <a:rPr lang="ru-RU"/>
              <a:t>18.06.2024</a:t>
            </a:fld>
            <a:endParaRPr lang="ru-RU"/>
          </a:p>
        </p:txBody>
      </p:sp>
      <p:sp>
        <p:nvSpPr>
          <p:cNvPr id="1156521579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35107637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FBEBC28-6AC5-4FFB-9B6B-3DDAF1129FC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69038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33347564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8AF954-DB44-4D18-9FF3-80B4389C2473}" type="datetimeFigureOut">
              <a:rPr lang="ru-RU"/>
              <a:t>18.06.2024</a:t>
            </a:fld>
            <a:endParaRPr lang="ru-RU"/>
          </a:p>
        </p:txBody>
      </p:sp>
      <p:sp>
        <p:nvSpPr>
          <p:cNvPr id="312995100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65727266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FBEBC28-6AC5-4FFB-9B6B-3DDAF1129FC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26336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8AF954-DB44-4D18-9FF3-80B4389C2473}" type="datetimeFigureOut">
              <a:rPr lang="ru-RU"/>
              <a:t>18.06.2024</a:t>
            </a:fld>
            <a:endParaRPr lang="ru-RU"/>
          </a:p>
        </p:txBody>
      </p:sp>
      <p:sp>
        <p:nvSpPr>
          <p:cNvPr id="124983354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22803825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FBEBC28-6AC5-4FFB-9B6B-3DDAF1129FC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053758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1835598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9773997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66049939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8AF954-DB44-4D18-9FF3-80B4389C2473}" type="datetimeFigureOut">
              <a:rPr lang="ru-RU"/>
              <a:t>18.06.2024</a:t>
            </a:fld>
            <a:endParaRPr lang="ru-RU"/>
          </a:p>
        </p:txBody>
      </p:sp>
      <p:sp>
        <p:nvSpPr>
          <p:cNvPr id="156724894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50774872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FBEBC28-6AC5-4FFB-9B6B-3DDAF1129FC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99525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84111902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555596113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63381440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8AF954-DB44-4D18-9FF3-80B4389C2473}" type="datetimeFigureOut">
              <a:rPr lang="ru-RU"/>
              <a:t>18.06.2024</a:t>
            </a:fld>
            <a:endParaRPr lang="ru-RU"/>
          </a:p>
        </p:txBody>
      </p:sp>
      <p:sp>
        <p:nvSpPr>
          <p:cNvPr id="895120704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99367232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FBEBC28-6AC5-4FFB-9B6B-3DDAF1129FC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59033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85764350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56172562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8AF954-DB44-4D18-9FF3-80B4389C2473}" type="datetimeFigureOut">
              <a:rPr lang="ru-RU"/>
              <a:t>18.06.2024</a:t>
            </a:fld>
            <a:endParaRPr lang="ru-RU"/>
          </a:p>
        </p:txBody>
      </p:sp>
      <p:sp>
        <p:nvSpPr>
          <p:cNvPr id="208687554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5146170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FBEBC28-6AC5-4FFB-9B6B-3DDAF1129FC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94355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19626096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1901145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8AF954-DB44-4D18-9FF3-80B4389C2473}" type="datetimeFigureOut">
              <a:rPr lang="ru-RU"/>
              <a:t>18.06.2024</a:t>
            </a:fld>
            <a:endParaRPr lang="ru-RU"/>
          </a:p>
        </p:txBody>
      </p:sp>
      <p:sp>
        <p:nvSpPr>
          <p:cNvPr id="80221780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9006886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FBEBC28-6AC5-4FFB-9B6B-3DDAF1129FC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232038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27586698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5023451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B8AF954-DB44-4D18-9FF3-80B4389C2473}" type="datetimeFigureOut">
              <a:rPr lang="ru-RU"/>
              <a:t>18.06.2024</a:t>
            </a:fld>
            <a:endParaRPr lang="ru-RU"/>
          </a:p>
        </p:txBody>
      </p:sp>
      <p:sp>
        <p:nvSpPr>
          <p:cNvPr id="4042587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2342558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FBEBC28-6AC5-4FFB-9B6B-3DDAF1129FCE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98231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85547" y="1"/>
            <a:ext cx="9144000" cy="1681166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sz="2200">
                <a:latin typeface="Times New Roman"/>
                <a:cs typeface="Times New Roman"/>
              </a:rPr>
              <a:t>Департамент образования и науки</a:t>
            </a:r>
            <a:br>
              <a:rPr lang="ru-RU" sz="2200">
                <a:latin typeface="Times New Roman"/>
                <a:cs typeface="Times New Roman"/>
              </a:rPr>
            </a:br>
            <a:r>
              <a:rPr lang="ru-RU" sz="2200">
                <a:latin typeface="Times New Roman"/>
                <a:cs typeface="Times New Roman"/>
              </a:rPr>
              <a:t>Ханты-Мансийского автономного округа - Югры</a:t>
            </a:r>
            <a:br>
              <a:rPr lang="ru-RU" sz="2200">
                <a:latin typeface="Times New Roman"/>
                <a:cs typeface="Times New Roman"/>
              </a:rPr>
            </a:br>
            <a:r>
              <a:rPr lang="ru-RU" sz="2200">
                <a:latin typeface="Times New Roman"/>
                <a:cs typeface="Times New Roman"/>
              </a:rPr>
              <a:t>Автономное учреждение профессионального образования</a:t>
            </a:r>
            <a:br>
              <a:rPr lang="ru-RU" sz="2200">
                <a:latin typeface="Times New Roman"/>
                <a:cs typeface="Times New Roman"/>
              </a:rPr>
            </a:br>
            <a:r>
              <a:rPr lang="ru-RU" sz="2200">
                <a:latin typeface="Times New Roman"/>
                <a:cs typeface="Times New Roman"/>
              </a:rPr>
              <a:t>Ханты-Мансийского автономного округа - Югры</a:t>
            </a:r>
            <a:br>
              <a:rPr lang="ru-RU" sz="2200">
                <a:latin typeface="Times New Roman"/>
                <a:cs typeface="Times New Roman"/>
              </a:rPr>
            </a:br>
            <a:r>
              <a:rPr lang="ru-RU" sz="2200">
                <a:latin typeface="Times New Roman"/>
                <a:cs typeface="Times New Roman"/>
              </a:rPr>
              <a:t>ХАНТЫ-МАНСИЙСКИЙ ТЕХНОЛОГО-ПЕДАГОГИЧЕСКИЙ КОЛЛЕДЖ</a:t>
            </a:r>
            <a:br>
              <a:rPr lang="ru-RU" sz="1400">
                <a:latin typeface="Times New Roman"/>
                <a:cs typeface="Times New Roman"/>
              </a:rPr>
            </a:br>
            <a:endParaRPr lang="ru-RU" sz="1400">
              <a:latin typeface="Times New Roman"/>
              <a:cs typeface="Times New Roman"/>
            </a:endParaRPr>
          </a:p>
        </p:txBody>
      </p:sp>
      <p:sp>
        <p:nvSpPr>
          <p:cNvPr id="462461073" name="Подзаголовок 2"/>
          <p:cNvSpPr txBox="1"/>
          <p:nvPr/>
        </p:nvSpPr>
        <p:spPr bwMode="auto">
          <a:xfrm>
            <a:off x="8736807" y="4623625"/>
            <a:ext cx="3455193" cy="16945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ru-RU" sz="1600">
                <a:latin typeface="Times New Roman"/>
                <a:cs typeface="Times New Roman"/>
              </a:rPr>
              <a:t>Выполнил: </a:t>
            </a:r>
            <a:endParaRPr/>
          </a:p>
          <a:p>
            <a:pPr algn="l">
              <a:defRPr/>
            </a:pPr>
            <a:r>
              <a:rPr lang="ru-RU" sz="1600">
                <a:latin typeface="Times New Roman"/>
                <a:cs typeface="Times New Roman"/>
              </a:rPr>
              <a:t>Студент </a:t>
            </a:r>
            <a:r>
              <a:rPr lang="en-US" sz="1600">
                <a:latin typeface="Times New Roman"/>
                <a:cs typeface="Times New Roman"/>
              </a:rPr>
              <a:t>4 </a:t>
            </a:r>
            <a:r>
              <a:rPr lang="ru-RU" sz="1600">
                <a:latin typeface="Times New Roman"/>
                <a:cs typeface="Times New Roman"/>
              </a:rPr>
              <a:t>курса </a:t>
            </a:r>
            <a:r>
              <a:rPr lang="ru-RU" sz="1600">
                <a:latin typeface="Times New Roman"/>
                <a:cs typeface="Times New Roman"/>
              </a:rPr>
              <a:t>23</a:t>
            </a:r>
            <a:r>
              <a:rPr lang="en-US" sz="1600">
                <a:latin typeface="Times New Roman"/>
                <a:cs typeface="Times New Roman"/>
              </a:rPr>
              <a:t>2</a:t>
            </a:r>
            <a:r>
              <a:rPr lang="ru-RU" sz="1600">
                <a:latin typeface="Times New Roman"/>
                <a:cs typeface="Times New Roman"/>
              </a:rPr>
              <a:t> </a:t>
            </a:r>
            <a:r>
              <a:rPr lang="ru-RU" sz="1600">
                <a:latin typeface="Times New Roman"/>
                <a:cs typeface="Times New Roman"/>
              </a:rPr>
              <a:t>группы </a:t>
            </a:r>
            <a:endParaRPr/>
          </a:p>
          <a:p>
            <a:pPr algn="just">
              <a:defRPr/>
            </a:pPr>
            <a:r>
              <a:rPr lang="ru-RU" sz="1600">
                <a:latin typeface="Times New Roman"/>
                <a:ea typeface="Century Gothic"/>
                <a:cs typeface="Times New Roman"/>
              </a:rPr>
              <a:t>Мелехов Анатолий Константинович</a:t>
            </a:r>
            <a:endParaRPr lang="ru-RU" sz="1600">
              <a:latin typeface="Times New Roman"/>
              <a:ea typeface="Century Gothic"/>
              <a:cs typeface="Times New Roman"/>
            </a:endParaRPr>
          </a:p>
          <a:p>
            <a:pPr algn="l">
              <a:defRPr/>
            </a:pPr>
            <a:r>
              <a:rPr lang="ru-RU" sz="1600">
                <a:latin typeface="Times New Roman"/>
                <a:cs typeface="Times New Roman"/>
              </a:rPr>
              <a:t>Руководитель: </a:t>
            </a:r>
            <a:endParaRPr/>
          </a:p>
          <a:p>
            <a:pPr algn="l">
              <a:defRPr/>
            </a:pPr>
            <a:r>
              <a:rPr lang="ru-RU" sz="1600">
                <a:latin typeface="Times New Roman"/>
                <a:cs typeface="Times New Roman"/>
              </a:rPr>
              <a:t>Николаев Дмитрий Владимирович</a:t>
            </a:r>
            <a:endParaRPr/>
          </a:p>
        </p:txBody>
      </p:sp>
      <p:sp>
        <p:nvSpPr>
          <p:cNvPr id="1177371208" name="TextBox 6"/>
          <p:cNvSpPr txBox="1"/>
          <p:nvPr/>
        </p:nvSpPr>
        <p:spPr bwMode="auto">
          <a:xfrm>
            <a:off x="2013066" y="2341626"/>
            <a:ext cx="8226543" cy="1585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3200">
                <a:latin typeface="Times New Roman"/>
                <a:cs typeface="Times New Roman"/>
              </a:rPr>
              <a:t>Дипломная работа</a:t>
            </a:r>
            <a:endParaRPr/>
          </a:p>
          <a:p>
            <a:pPr>
              <a:defRPr/>
            </a:pPr>
            <a:endParaRPr lang="ru-RU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sz="2400">
                <a:latin typeface="Times New Roman"/>
                <a:cs typeface="Times New Roman"/>
              </a:rPr>
              <a:t>На тему: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Автоматизация процесса составления портфолио ученика</a:t>
            </a:r>
            <a:endParaRPr lang="ru-RU" sz="2400">
              <a:latin typeface="Times New Roman"/>
              <a:cs typeface="Times New Roman"/>
            </a:endParaRPr>
          </a:p>
        </p:txBody>
      </p:sp>
      <p:sp>
        <p:nvSpPr>
          <p:cNvPr id="495761823" name="Объект 2"/>
          <p:cNvSpPr txBox="1"/>
          <p:nvPr/>
        </p:nvSpPr>
        <p:spPr bwMode="auto">
          <a:xfrm>
            <a:off x="4524090" y="6225182"/>
            <a:ext cx="3266913" cy="474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600">
                <a:latin typeface="Times New Roman"/>
                <a:ea typeface="Century Gothic"/>
                <a:cs typeface="Times New Roman"/>
              </a:rPr>
              <a:t>г. Ханты-Мансийск </a:t>
            </a:r>
            <a:r>
              <a:rPr lang="en-US" sz="1600">
                <a:latin typeface="Times New Roman"/>
                <a:ea typeface="Century Gothic"/>
                <a:cs typeface="Times New Roman"/>
              </a:rPr>
              <a:t>  </a:t>
            </a:r>
            <a:r>
              <a:rPr lang="ru-RU" sz="1600">
                <a:latin typeface="Times New Roman"/>
                <a:ea typeface="Century Gothic"/>
                <a:cs typeface="Times New Roman"/>
              </a:rPr>
              <a:t>202</a:t>
            </a:r>
            <a:r>
              <a:rPr lang="ru-RU" sz="1600">
                <a:latin typeface="Times New Roman"/>
                <a:ea typeface="Century Gothic"/>
                <a:cs typeface="Times New Roman"/>
              </a:rPr>
              <a:t>6 </a:t>
            </a:r>
            <a:r>
              <a:rPr lang="ru-RU" sz="1600">
                <a:latin typeface="Times New Roman"/>
                <a:ea typeface="Century Gothic"/>
                <a:cs typeface="Times New Roman"/>
              </a:rPr>
              <a:t>год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388255" name="Объект 2"/>
          <p:cNvSpPr>
            <a:spLocks noGrp="1"/>
          </p:cNvSpPr>
          <p:nvPr>
            <p:ph idx="1"/>
          </p:nvPr>
        </p:nvSpPr>
        <p:spPr bwMode="auto">
          <a:xfrm>
            <a:off x="1151641" y="755445"/>
            <a:ext cx="9888717" cy="57486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3000" b="1" i="0" u="sng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Объект исследования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— автономное учреждение профессионального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образования Ханты-Мансийского автономного округа — Югры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«Ханты-Мансийский технолого-педагогический колледж».</a:t>
            </a:r>
            <a:endParaRPr lang="ru-RU" sz="3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ru-RU" sz="3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ru-RU" sz="3000" b="1" i="0" u="sng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Предмет исследования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— процесс учёта, модерации и анализа достижений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студентов, а также механизм подачи и рассмотрения заявок на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повышенную стипендию.</a:t>
            </a:r>
            <a:endParaRPr lang="ru-RU" sz="3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ru-RU" sz="3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ru-RU" sz="3000" b="1" i="0" u="sng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Цель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— разработать автоматизированную информационную систему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управления портфолио достижений студентов и стипендиальными заявкам</a:t>
            </a:r>
            <a:endParaRPr lang="ru-RU" sz="3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711335426" name="TextBox 1"/>
          <p:cNvSpPr txBox="1"/>
          <p:nvPr/>
        </p:nvSpPr>
        <p:spPr bwMode="auto">
          <a:xfrm>
            <a:off x="2492220" y="1"/>
            <a:ext cx="739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Объект, предмет и цель </a:t>
            </a:r>
            <a:endParaRPr/>
          </a:p>
        </p:txBody>
      </p:sp>
      <p:sp>
        <p:nvSpPr>
          <p:cNvPr id="1681326056" name="TextBox 3"/>
          <p:cNvSpPr txBox="1"/>
          <p:nvPr/>
        </p:nvSpPr>
        <p:spPr bwMode="auto">
          <a:xfrm>
            <a:off x="10812544" y="0"/>
            <a:ext cx="1379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2</a:t>
            </a:r>
            <a:endParaRPr lang="ru-RU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271450" name="Объект 2"/>
          <p:cNvSpPr>
            <a:spLocks noGrp="1"/>
          </p:cNvSpPr>
          <p:nvPr>
            <p:ph idx="1"/>
          </p:nvPr>
        </p:nvSpPr>
        <p:spPr bwMode="auto">
          <a:xfrm>
            <a:off x="1110334" y="1016806"/>
            <a:ext cx="10162095" cy="4964810"/>
          </a:xfrm>
        </p:spPr>
        <p:txBody>
          <a:bodyPr>
            <a:noAutofit/>
          </a:bodyPr>
          <a:lstStyle/>
          <a:p>
            <a:pPr marL="394023" indent="-394023">
              <a:buFont typeface="Arial"/>
              <a:buAutoNum type="arabicPeriod"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Проанализировать предметную область и существующие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решения.</a:t>
            </a:r>
            <a:endParaRPr sz="2800" b="0" i="0" u="none" strike="noStrike" cap="none" spc="0">
              <a:solidFill>
                <a:schemeClr val="tx1"/>
              </a:solidFill>
              <a:latin typeface="Tinos Nerd Font"/>
              <a:cs typeface="Tinos Nerd Font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2. Спроектировать реляционную базу данных.</a:t>
            </a:r>
            <a:endParaRPr sz="2800" b="0" i="0" u="none" strike="noStrike" cap="none" spc="0">
              <a:solidFill>
                <a:schemeClr val="tx1"/>
              </a:solidFill>
              <a:latin typeface="Tinos Nerd Font"/>
              <a:cs typeface="Tinos Nerd Font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3.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Разработать веб-приложение с ролевой моделью (студент,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куратор, комиссия, администратор).</a:t>
            </a:r>
            <a:endParaRPr sz="2800" b="0" i="0" u="none" strike="noStrike" cap="none" spc="0">
              <a:solidFill>
                <a:schemeClr val="tx1"/>
              </a:solidFill>
              <a:latin typeface="Tinos Nerd Font"/>
              <a:cs typeface="Tinos Nerd Font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4. Реализовать функционал создания и модерации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мероприятий.</a:t>
            </a:r>
            <a:endParaRPr sz="2800" b="0" i="0" u="none" strike="noStrike" cap="none" spc="0">
              <a:solidFill>
                <a:schemeClr val="tx1"/>
              </a:solidFill>
              <a:latin typeface="Tinos Nerd Font"/>
              <a:cs typeface="Tinos Nerd Font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5. Реализовать подачу и рассмотрение стипендиальных заявок.</a:t>
            </a:r>
            <a:endParaRPr sz="2800" b="0" i="0" u="none" strike="noStrike" cap="none" spc="0">
              <a:solidFill>
                <a:schemeClr val="tx1"/>
              </a:solidFill>
              <a:latin typeface="Tinos Nerd Font"/>
              <a:cs typeface="Tinos Nerd Font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Tinos Nerd Font"/>
                <a:ea typeface="Tinos Nerd Font"/>
                <a:cs typeface="Tinos Nerd Font"/>
              </a:rPr>
              <a:t>6. Провести тестирование разработанной системы.</a:t>
            </a:r>
            <a:endParaRPr/>
          </a:p>
        </p:txBody>
      </p:sp>
      <p:sp>
        <p:nvSpPr>
          <p:cNvPr id="947422179" name="TextBox 5"/>
          <p:cNvSpPr txBox="1"/>
          <p:nvPr/>
        </p:nvSpPr>
        <p:spPr bwMode="auto">
          <a:xfrm>
            <a:off x="2492219" y="0"/>
            <a:ext cx="7398686" cy="640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Задачи</a:t>
            </a:r>
            <a:endParaRPr>
              <a:latin typeface="Times"/>
              <a:cs typeface="Times"/>
            </a:endParaRPr>
          </a:p>
        </p:txBody>
      </p:sp>
      <p:sp>
        <p:nvSpPr>
          <p:cNvPr id="577654558" name="TextBox 6"/>
          <p:cNvSpPr txBox="1"/>
          <p:nvPr/>
        </p:nvSpPr>
        <p:spPr bwMode="auto">
          <a:xfrm>
            <a:off x="10812544" y="0"/>
            <a:ext cx="1379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3</a:t>
            </a:r>
            <a:endParaRPr lang="ru-RU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23798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-311084"/>
            <a:ext cx="78867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Практическая значимость</a:t>
            </a:r>
            <a:endParaRPr lang="ru-RU" sz="3600"/>
          </a:p>
        </p:txBody>
      </p:sp>
      <p:sp>
        <p:nvSpPr>
          <p:cNvPr id="903430951" name="Объект 2"/>
          <p:cNvSpPr>
            <a:spLocks noGrp="1"/>
          </p:cNvSpPr>
          <p:nvPr>
            <p:ph idx="1"/>
          </p:nvPr>
        </p:nvSpPr>
        <p:spPr bwMode="auto">
          <a:xfrm>
            <a:off x="939538" y="1014479"/>
            <a:ext cx="10312924" cy="478359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>
              <a:lnSpc>
                <a:spcPct val="120000"/>
              </a:lnSpc>
              <a:buFont typeface="Arial"/>
              <a:buNone/>
              <a:defRPr/>
            </a:pP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Автоматизация учёта достижений студентов и подачи заявок на стипендию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в Ханты-Мансийском технолого-педагогическом колледже: вместо бумажных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портфолио, таблиц и ручного документооборота — единая система с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четырьмя ролями (студент, куратор, комиссия, администратор),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прозрачной модерацией мероприятий, отслеживанием общих компетенций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по стандартам ФГОС СПО и объективным рейтингом для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назначения повышенной стипендии. Внедрение сокращает время обработки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документов, исключает субъективность при распределении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стипендиального фонда и даёт студентам публичное портфолио для </a:t>
            </a:r>
            <a:r>
              <a:rPr lang="ru-RU" sz="3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презентации достижений.</a:t>
            </a:r>
            <a:endParaRPr lang="ru-RU" sz="3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01439150" name="TextBox 4"/>
          <p:cNvSpPr txBox="1"/>
          <p:nvPr/>
        </p:nvSpPr>
        <p:spPr bwMode="auto">
          <a:xfrm>
            <a:off x="10812544" y="0"/>
            <a:ext cx="1379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4</a:t>
            </a:r>
            <a:endParaRPr lang="ru-RU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492534" name="Заголовок 1"/>
          <p:cNvSpPr>
            <a:spLocks noGrp="1"/>
          </p:cNvSpPr>
          <p:nvPr>
            <p:ph type="title"/>
          </p:nvPr>
        </p:nvSpPr>
        <p:spPr bwMode="auto">
          <a:xfrm>
            <a:off x="1970648" y="0"/>
            <a:ext cx="8250702" cy="70788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Организационная структура </a:t>
            </a:r>
            <a:endParaRPr/>
          </a:p>
        </p:txBody>
      </p:sp>
      <p:sp>
        <p:nvSpPr>
          <p:cNvPr id="1067228462" name="TextBox 6"/>
          <p:cNvSpPr txBox="1"/>
          <p:nvPr/>
        </p:nvSpPr>
        <p:spPr bwMode="auto">
          <a:xfrm>
            <a:off x="10812544" y="0"/>
            <a:ext cx="1379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5</a:t>
            </a:r>
            <a:endParaRPr lang="ru-RU" sz="1200"/>
          </a:p>
        </p:txBody>
      </p:sp>
      <p:pic>
        <p:nvPicPr>
          <p:cNvPr id="15732391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6750" y="707884"/>
            <a:ext cx="11135521" cy="57849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012977" name="Заголовок 1"/>
          <p:cNvSpPr>
            <a:spLocks noGrp="1"/>
          </p:cNvSpPr>
          <p:nvPr>
            <p:ph type="title"/>
          </p:nvPr>
        </p:nvSpPr>
        <p:spPr bwMode="auto">
          <a:xfrm>
            <a:off x="1198774" y="0"/>
            <a:ext cx="9794449" cy="631596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200" b="1">
                <a:latin typeface="Times New Roman"/>
                <a:ea typeface="Century Gothic"/>
                <a:cs typeface="Times New Roman"/>
              </a:rPr>
              <a:t>Диаграмма вариантов использования</a:t>
            </a:r>
            <a:endParaRPr lang="ru-RU" sz="3200">
              <a:latin typeface="Times New Roman"/>
              <a:cs typeface="Times New Roman"/>
            </a:endParaRPr>
          </a:p>
        </p:txBody>
      </p:sp>
      <p:sp>
        <p:nvSpPr>
          <p:cNvPr id="587996362" name="TextBox 5"/>
          <p:cNvSpPr txBox="1"/>
          <p:nvPr/>
        </p:nvSpPr>
        <p:spPr bwMode="auto">
          <a:xfrm>
            <a:off x="10812544" y="0"/>
            <a:ext cx="1379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6</a:t>
            </a:r>
            <a:endParaRPr lang="ru-RU" sz="1200"/>
          </a:p>
        </p:txBody>
      </p:sp>
      <p:pic>
        <p:nvPicPr>
          <p:cNvPr id="14341694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823534" y="631595"/>
            <a:ext cx="6368464" cy="5852088"/>
          </a:xfrm>
          <a:prstGeom prst="rect">
            <a:avLst/>
          </a:prstGeom>
        </p:spPr>
      </p:pic>
      <p:pic>
        <p:nvPicPr>
          <p:cNvPr id="156996775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3289" y="631595"/>
            <a:ext cx="5287087" cy="5852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231323" name="Заголовок 1"/>
          <p:cNvSpPr>
            <a:spLocks noGrp="1"/>
          </p:cNvSpPr>
          <p:nvPr>
            <p:ph type="title"/>
          </p:nvPr>
        </p:nvSpPr>
        <p:spPr bwMode="auto">
          <a:xfrm>
            <a:off x="1524001" y="0"/>
            <a:ext cx="9143999" cy="1168924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sz="4000" b="1">
                <a:latin typeface="Times New Roman"/>
                <a:ea typeface="Century Gothic"/>
                <a:cs typeface="Times New Roman"/>
              </a:rPr>
              <a:t>Диаграмма деятельности </a:t>
            </a:r>
            <a:br>
              <a:rPr lang="ru-RU" sz="4000" b="1">
                <a:latin typeface="Times New Roman"/>
                <a:ea typeface="Century Gothic"/>
                <a:cs typeface="Times New Roman"/>
              </a:rPr>
            </a:br>
            <a:r>
              <a:rPr lang="ru-RU" sz="4000" b="1">
                <a:latin typeface="Times New Roman"/>
                <a:ea typeface="Century Gothic"/>
                <a:cs typeface="Times New Roman"/>
              </a:rPr>
              <a:t>«Ведение электронного судового журнала»</a:t>
            </a:r>
            <a:endParaRPr lang="ru-RU"/>
          </a:p>
        </p:txBody>
      </p:sp>
      <p:sp>
        <p:nvSpPr>
          <p:cNvPr id="932487683" name="TextBox 5"/>
          <p:cNvSpPr txBox="1"/>
          <p:nvPr/>
        </p:nvSpPr>
        <p:spPr bwMode="auto">
          <a:xfrm>
            <a:off x="10812544" y="0"/>
            <a:ext cx="1379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7</a:t>
            </a:r>
            <a:endParaRPr lang="ru-RU" sz="1200"/>
          </a:p>
        </p:txBody>
      </p:sp>
      <p:pic>
        <p:nvPicPr>
          <p:cNvPr id="18289207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29337" y="1717925"/>
            <a:ext cx="4127372" cy="4257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404692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1"/>
            <a:ext cx="7886700" cy="754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Логическая модель базы данных</a:t>
            </a:r>
            <a:endParaRPr/>
          </a:p>
        </p:txBody>
      </p:sp>
      <p:sp>
        <p:nvSpPr>
          <p:cNvPr id="1736299803" name="TextBox 6"/>
          <p:cNvSpPr txBox="1"/>
          <p:nvPr/>
        </p:nvSpPr>
        <p:spPr bwMode="auto">
          <a:xfrm>
            <a:off x="10812544" y="0"/>
            <a:ext cx="1379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8</a:t>
            </a:r>
            <a:endParaRPr lang="ru-RU" sz="1200"/>
          </a:p>
        </p:txBody>
      </p:sp>
      <p:pic>
        <p:nvPicPr>
          <p:cNvPr id="8640386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20175" y="921250"/>
            <a:ext cx="9792368" cy="51871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200896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1"/>
            <a:ext cx="7886700" cy="754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Физическая модель базы данных</a:t>
            </a:r>
            <a:endParaRPr/>
          </a:p>
        </p:txBody>
      </p:sp>
      <p:sp>
        <p:nvSpPr>
          <p:cNvPr id="1713337564" name="TextBox 5"/>
          <p:cNvSpPr txBox="1"/>
          <p:nvPr/>
        </p:nvSpPr>
        <p:spPr bwMode="auto">
          <a:xfrm>
            <a:off x="10614581" y="0"/>
            <a:ext cx="1577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9</a:t>
            </a:r>
            <a:endParaRPr lang="ru-RU" sz="1200"/>
          </a:p>
        </p:txBody>
      </p:sp>
      <p:pic>
        <p:nvPicPr>
          <p:cNvPr id="14526676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2631" y="919078"/>
            <a:ext cx="11050658" cy="56481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083021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1"/>
            <a:ext cx="7886700" cy="754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Страница </a:t>
            </a:r>
            <a:r>
              <a:rPr lang="ru-RU" sz="3600" b="1">
                <a:latin typeface="Times New Roman"/>
                <a:cs typeface="Times New Roman"/>
              </a:rPr>
              <a:t>авторизации</a:t>
            </a:r>
            <a:endParaRPr/>
          </a:p>
        </p:txBody>
      </p:sp>
      <p:sp>
        <p:nvSpPr>
          <p:cNvPr id="1880155808" name="TextBox 5"/>
          <p:cNvSpPr txBox="1"/>
          <p:nvPr/>
        </p:nvSpPr>
        <p:spPr bwMode="auto">
          <a:xfrm>
            <a:off x="10614580" y="0"/>
            <a:ext cx="1578138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10</a:t>
            </a:r>
            <a:endParaRPr lang="ru-RU" sz="1200"/>
          </a:p>
        </p:txBody>
      </p:sp>
      <p:pic>
        <p:nvPicPr>
          <p:cNvPr id="17893564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004970" y="1223962"/>
            <a:ext cx="6048374" cy="44100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960446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1"/>
            <a:ext cx="7886700" cy="754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Окно студента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315102748" name="TextBox 5"/>
          <p:cNvSpPr txBox="1"/>
          <p:nvPr/>
        </p:nvSpPr>
        <p:spPr bwMode="auto">
          <a:xfrm>
            <a:off x="10614580" y="0"/>
            <a:ext cx="1578138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11</a:t>
            </a:r>
            <a:endParaRPr lang="ru-RU" sz="1200"/>
          </a:p>
        </p:txBody>
      </p:sp>
      <p:pic>
        <p:nvPicPr>
          <p:cNvPr id="19918306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36973" y="728881"/>
            <a:ext cx="10666676" cy="5400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023546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1"/>
            <a:ext cx="7886700" cy="754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Страница </a:t>
            </a:r>
            <a:r>
              <a:rPr lang="ru-RU" sz="3600" b="1">
                <a:latin typeface="Times New Roman"/>
                <a:cs typeface="Times New Roman"/>
              </a:rPr>
              <a:t>куратора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7680276" name="TextBox 5"/>
          <p:cNvSpPr txBox="1"/>
          <p:nvPr/>
        </p:nvSpPr>
        <p:spPr bwMode="auto">
          <a:xfrm>
            <a:off x="10614581" y="0"/>
            <a:ext cx="1577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12</a:t>
            </a:r>
            <a:endParaRPr lang="ru-RU" sz="1200"/>
          </a:p>
        </p:txBody>
      </p:sp>
      <p:pic>
        <p:nvPicPr>
          <p:cNvPr id="104661239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87105" y="731531"/>
            <a:ext cx="10616185" cy="5394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809597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1"/>
            <a:ext cx="7886700" cy="754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Страница комиссии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947798272" name="TextBox 6"/>
          <p:cNvSpPr txBox="1"/>
          <p:nvPr/>
        </p:nvSpPr>
        <p:spPr bwMode="auto">
          <a:xfrm>
            <a:off x="10614581" y="0"/>
            <a:ext cx="1577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13</a:t>
            </a:r>
            <a:endParaRPr lang="ru-RU" sz="1200"/>
          </a:p>
        </p:txBody>
      </p:sp>
      <p:pic>
        <p:nvPicPr>
          <p:cNvPr id="21433135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20262" y="691830"/>
            <a:ext cx="10683027" cy="5474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005737" name="Заголовок 1"/>
          <p:cNvSpPr>
            <a:spLocks noGrp="1"/>
          </p:cNvSpPr>
          <p:nvPr>
            <p:ph type="title"/>
          </p:nvPr>
        </p:nvSpPr>
        <p:spPr bwMode="auto">
          <a:xfrm>
            <a:off x="2171700" y="146148"/>
            <a:ext cx="7886700" cy="754144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Модальное меню для списка пользователей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1327389477" name="TextBox 6"/>
          <p:cNvSpPr txBox="1"/>
          <p:nvPr/>
        </p:nvSpPr>
        <p:spPr bwMode="auto">
          <a:xfrm>
            <a:off x="10614581" y="0"/>
            <a:ext cx="1577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14</a:t>
            </a:r>
            <a:endParaRPr lang="ru-RU" sz="1200"/>
          </a:p>
        </p:txBody>
      </p:sp>
      <p:pic>
        <p:nvPicPr>
          <p:cNvPr id="139716554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03552" y="1067905"/>
            <a:ext cx="10778289" cy="51149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45379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1"/>
            <a:ext cx="7886700" cy="754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Страница добавления </a:t>
            </a:r>
            <a:r>
              <a:rPr lang="ru-RU" sz="3600" b="1">
                <a:latin typeface="Times New Roman"/>
                <a:cs typeface="Times New Roman"/>
              </a:rPr>
              <a:t>мероприятия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1140230141" name="TextBox 5"/>
          <p:cNvSpPr txBox="1"/>
          <p:nvPr/>
        </p:nvSpPr>
        <p:spPr bwMode="auto">
          <a:xfrm>
            <a:off x="10614581" y="0"/>
            <a:ext cx="1577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15</a:t>
            </a:r>
            <a:endParaRPr lang="ru-RU" sz="1200"/>
          </a:p>
        </p:txBody>
      </p:sp>
      <p:pic>
        <p:nvPicPr>
          <p:cNvPr id="11523035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19262" y="754144"/>
            <a:ext cx="8753474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8814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1"/>
            <a:ext cx="7886700" cy="754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/>
              <a:t>Создание портфолио</a:t>
            </a:r>
            <a:endParaRPr/>
          </a:p>
        </p:txBody>
      </p:sp>
      <p:sp>
        <p:nvSpPr>
          <p:cNvPr id="311461318" name="TextBox 7"/>
          <p:cNvSpPr txBox="1"/>
          <p:nvPr/>
        </p:nvSpPr>
        <p:spPr bwMode="auto">
          <a:xfrm>
            <a:off x="10614581" y="0"/>
            <a:ext cx="1577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16</a:t>
            </a:r>
            <a:endParaRPr lang="ru-RU" sz="1200"/>
          </a:p>
        </p:txBody>
      </p:sp>
      <p:pic>
        <p:nvPicPr>
          <p:cNvPr id="122303590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85789" y="967539"/>
            <a:ext cx="7703552" cy="5524499"/>
          </a:xfrm>
          <a:prstGeom prst="rect">
            <a:avLst/>
          </a:prstGeom>
        </p:spPr>
      </p:pic>
      <p:pic>
        <p:nvPicPr>
          <p:cNvPr id="3798140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206578" y="1190624"/>
            <a:ext cx="3860131" cy="4476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277709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1"/>
            <a:ext cx="7886700" cy="754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Заявки на проверку</a:t>
            </a:r>
            <a:endParaRPr/>
          </a:p>
        </p:txBody>
      </p:sp>
      <p:sp>
        <p:nvSpPr>
          <p:cNvPr id="99499234" name="TextBox 7"/>
          <p:cNvSpPr txBox="1"/>
          <p:nvPr/>
        </p:nvSpPr>
        <p:spPr bwMode="auto">
          <a:xfrm>
            <a:off x="10614581" y="0"/>
            <a:ext cx="1577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17</a:t>
            </a:r>
            <a:endParaRPr lang="ru-RU" sz="1200"/>
          </a:p>
        </p:txBody>
      </p:sp>
      <p:pic>
        <p:nvPicPr>
          <p:cNvPr id="85280145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37280" y="977565"/>
            <a:ext cx="8877299" cy="5021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069581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83552"/>
            <a:ext cx="10515600" cy="955424"/>
          </a:xfrm>
        </p:spPr>
        <p:txBody>
          <a:bodyPr/>
          <a:lstStyle/>
          <a:p>
            <a:pPr algn="ctr">
              <a:defRPr/>
            </a:pPr>
            <a:r>
              <a:rPr lang="ru-RU" b="1"/>
              <a:t>Экспорт в </a:t>
            </a:r>
            <a:r>
              <a:rPr lang="en-US" b="1"/>
              <a:t>Excel</a:t>
            </a:r>
            <a:endParaRPr/>
          </a:p>
        </p:txBody>
      </p:sp>
      <p:pic>
        <p:nvPicPr>
          <p:cNvPr id="7394074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681162" y="946483"/>
            <a:ext cx="8829675" cy="5867399"/>
          </a:xfrm>
          <a:prstGeom prst="rect">
            <a:avLst/>
          </a:prstGeom>
        </p:spPr>
      </p:pic>
      <p:sp>
        <p:nvSpPr>
          <p:cNvPr id="1981804336" name="TextBox 5"/>
          <p:cNvSpPr txBox="1"/>
          <p:nvPr/>
        </p:nvSpPr>
        <p:spPr bwMode="auto">
          <a:xfrm>
            <a:off x="10614580" y="0"/>
            <a:ext cx="1577778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18</a:t>
            </a:r>
            <a:endParaRPr lang="ru-RU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9488400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1"/>
            <a:ext cx="7886700" cy="754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Арбитраж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1066037967" name="TextBox 5"/>
          <p:cNvSpPr txBox="1"/>
          <p:nvPr/>
        </p:nvSpPr>
        <p:spPr bwMode="auto">
          <a:xfrm>
            <a:off x="10614580" y="0"/>
            <a:ext cx="1578138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19</a:t>
            </a:r>
            <a:endParaRPr lang="ru-RU" sz="1200"/>
          </a:p>
        </p:txBody>
      </p:sp>
      <p:pic>
        <p:nvPicPr>
          <p:cNvPr id="3437375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24275" y="1012657"/>
            <a:ext cx="8943975" cy="5333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081129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1"/>
            <a:ext cx="7886700" cy="754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Добавление пользователей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1865736434" name="TextBox 5"/>
          <p:cNvSpPr txBox="1"/>
          <p:nvPr/>
        </p:nvSpPr>
        <p:spPr bwMode="auto">
          <a:xfrm>
            <a:off x="10614580" y="0"/>
            <a:ext cx="1578858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20</a:t>
            </a:r>
            <a:endParaRPr lang="ru-RU" sz="1200"/>
          </a:p>
        </p:txBody>
      </p:sp>
      <p:pic>
        <p:nvPicPr>
          <p:cNvPr id="190569910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690687" y="836361"/>
            <a:ext cx="8810624" cy="5619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068269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1"/>
            <a:ext cx="7886700" cy="75414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Аудит</a:t>
            </a:r>
            <a:endParaRPr lang="ru-RU" sz="3600" b="1">
              <a:latin typeface="Times New Roman"/>
              <a:cs typeface="Times New Roman"/>
            </a:endParaRPr>
          </a:p>
        </p:txBody>
      </p:sp>
      <p:sp>
        <p:nvSpPr>
          <p:cNvPr id="170758737" name="TextBox 5"/>
          <p:cNvSpPr txBox="1"/>
          <p:nvPr/>
        </p:nvSpPr>
        <p:spPr bwMode="auto">
          <a:xfrm>
            <a:off x="10614580" y="0"/>
            <a:ext cx="1578138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/>
              <a:t>Слайд </a:t>
            </a:r>
            <a:r>
              <a:rPr lang="ru-RU" sz="2800"/>
              <a:t>21</a:t>
            </a:r>
            <a:endParaRPr lang="ru-RU" sz="1200"/>
          </a:p>
        </p:txBody>
      </p:sp>
      <p:pic>
        <p:nvPicPr>
          <p:cNvPr id="8907146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28762" y="890587"/>
            <a:ext cx="9134474" cy="5076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029543" name="Объект 2"/>
          <p:cNvSpPr>
            <a:spLocks noGrp="1"/>
          </p:cNvSpPr>
          <p:nvPr>
            <p:ph idx="1"/>
          </p:nvPr>
        </p:nvSpPr>
        <p:spPr bwMode="auto">
          <a:xfrm>
            <a:off x="1022912" y="889164"/>
            <a:ext cx="10146176" cy="5322562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1. Проанализирована предметная область и обоснована необходимость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разработки.</a:t>
            </a:r>
            <a:endParaRPr lang="ru-RU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2. Спроектирована и реализована реляционная база данных (10 таблиц).</a:t>
            </a:r>
            <a:endParaRPr lang="ru-RU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3. Разработано веб-приложение с четырьмя ролями, модулем мероприятий,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стипендиальных заявок, учёта ОК и отчётов.</a:t>
            </a:r>
            <a:endParaRPr lang="ru-RU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4. Обеспечена информационная безопасность (хеширование, CSRF, аудит).</a:t>
            </a:r>
            <a:endParaRPr lang="ru-RU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5. Проведено тестирование — все тесты пройдены.</a:t>
            </a:r>
            <a:endParaRPr lang="ru-RU" sz="2400" b="0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6. Система готова к внедрению.</a:t>
            </a:r>
            <a:endParaRPr lang="ru-RU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0">
              <a:defRPr/>
            </a:pPr>
            <a:endParaRPr lang="ru-RU" sz="2400">
              <a:latin typeface="Times New Roman"/>
              <a:cs typeface="Times New Roman"/>
            </a:endParaRPr>
          </a:p>
        </p:txBody>
      </p:sp>
      <p:sp>
        <p:nvSpPr>
          <p:cNvPr id="790451300" name="Заголовок 1"/>
          <p:cNvSpPr>
            <a:spLocks noGrp="1"/>
          </p:cNvSpPr>
          <p:nvPr>
            <p:ph type="title"/>
          </p:nvPr>
        </p:nvSpPr>
        <p:spPr bwMode="auto">
          <a:xfrm>
            <a:off x="2152650" y="0"/>
            <a:ext cx="7886700" cy="697584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>
                <a:latin typeface="Times New Roman"/>
                <a:cs typeface="Times New Roman"/>
              </a:rPr>
              <a:t>Выводы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 и молодежной политики Ханты-Мансийского автономного округа - Югры Автономное учреждение профессионального образования Ханты-Мансийского автономного округа - Югры ХАНТЫ-МАНСИЙСКИЙ ТЕХНОЛОГО-ПЕДАГОГИЧЕСКИЙ КОЛЛЕДЖ </dc:title>
  <dc:creator>Дмитрий корчагин</dc:creator>
  <cp:lastModifiedBy/>
  <cp:revision>60</cp:revision>
  <dcterms:created xsi:type="dcterms:W3CDTF">2023-05-23T11:04:17Z</dcterms:created>
  <dcterms:modified xsi:type="dcterms:W3CDTF">2026-06-02T03:26:31Z</dcterms:modified>
</cp:coreProperties>
</file>